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Стиль із теми 2 –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із теми 2 –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Помірний стиль 2 –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059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559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468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278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34860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799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301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103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71750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224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275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3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06E9C-86FE-4AD7-90BA-9D2CC0F35093}" type="datetimeFigureOut">
              <a:rPr lang="uk-UA" smtClean="0"/>
              <a:t>01.11.2023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32338-9FA2-4C8D-AF96-99686BED7D6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574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s://upload.wikimedia.org/wikipedia/commons/2/26/Ascii-codes-table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9246" y="657152"/>
            <a:ext cx="3906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4000" b="1" dirty="0"/>
              <a:t>Символи і рядки</a:t>
            </a:r>
            <a:endParaRPr lang="uk-UA" sz="11500" b="1" dirty="0"/>
          </a:p>
        </p:txBody>
      </p:sp>
      <p:pic>
        <p:nvPicPr>
          <p:cNvPr id="1026" name="Picture 2" descr="Результат пошуку зображень за запитом &quot;символи і рядки С++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475" y="1950719"/>
            <a:ext cx="5825610" cy="436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59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31726" y="230432"/>
            <a:ext cx="3172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/>
              <a:t>Символи і рядки</a:t>
            </a:r>
            <a:endParaRPr lang="uk-UA" sz="8800" b="1" dirty="0"/>
          </a:p>
        </p:txBody>
      </p:sp>
      <p:pic>
        <p:nvPicPr>
          <p:cNvPr id="4" name="Рисунок 3" descr="Пов’язане зображення"/>
          <p:cNvPicPr/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" y="975591"/>
            <a:ext cx="11991703" cy="58824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889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31726" y="230432"/>
            <a:ext cx="2199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int</a:t>
            </a:r>
            <a:r>
              <a:rPr lang="en-US" sz="3200" b="1" dirty="0"/>
              <a:t> ↔ char </a:t>
            </a:r>
            <a:endParaRPr lang="uk-UA" sz="88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r="70781" b="83211"/>
          <a:stretch/>
        </p:blipFill>
        <p:spPr>
          <a:xfrm>
            <a:off x="6730790" y="1766751"/>
            <a:ext cx="4394553" cy="1394460"/>
          </a:xfrm>
          <a:prstGeom prst="rect">
            <a:avLst/>
          </a:prstGeom>
        </p:spPr>
      </p:pic>
      <p:sp>
        <p:nvSpPr>
          <p:cNvPr id="4" name="Прямокутник 3"/>
          <p:cNvSpPr/>
          <p:nvPr/>
        </p:nvSpPr>
        <p:spPr>
          <a:xfrm>
            <a:off x="634790" y="1335987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c1;</a:t>
            </a: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i1;</a:t>
            </a:r>
          </a:p>
          <a:p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c1 = 33;</a:t>
            </a:r>
          </a:p>
          <a:p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i1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'!'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fr-FR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"char c1="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c1</a:t>
            </a:r>
            <a:r>
              <a:rPr lang="fr-FR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endl;</a:t>
            </a:r>
          </a:p>
          <a:p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i1="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i1;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8080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26202" b="45340"/>
          <a:stretch/>
        </p:blipFill>
        <p:spPr>
          <a:xfrm>
            <a:off x="666071" y="1247504"/>
            <a:ext cx="11099210" cy="3498668"/>
          </a:xfrm>
          <a:prstGeom prst="rect">
            <a:avLst/>
          </a:prstGeom>
        </p:spPr>
      </p:pic>
      <p:sp>
        <p:nvSpPr>
          <p:cNvPr id="3" name="Прямокутник 2"/>
          <p:cNvSpPr/>
          <p:nvPr/>
        </p:nvSpPr>
        <p:spPr>
          <a:xfrm>
            <a:off x="3657600" y="516357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&lt;= 256; i++)</a:t>
            </a: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30 == 0)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4531726" y="230432"/>
            <a:ext cx="2199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int</a:t>
            </a:r>
            <a:r>
              <a:rPr lang="en-US" sz="3200" b="1" dirty="0"/>
              <a:t> ↔ char </a:t>
            </a:r>
            <a:endParaRPr lang="uk-UA" sz="8800" b="1" dirty="0"/>
          </a:p>
        </p:txBody>
      </p:sp>
    </p:spTree>
    <p:extLst>
      <p:ext uri="{BB962C8B-B14F-4D97-AF65-F5344CB8AC3E}">
        <p14:creationId xmlns:p14="http://schemas.microsoft.com/office/powerpoint/2010/main" val="188282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я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066852"/>
              </p:ext>
            </p:extLst>
          </p:nvPr>
        </p:nvGraphicFramePr>
        <p:xfrm>
          <a:off x="435429" y="1741713"/>
          <a:ext cx="11277600" cy="4864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2420">
                  <a:extLst>
                    <a:ext uri="{9D8B030D-6E8A-4147-A177-3AD203B41FA5}">
                      <a16:colId xmlns:a16="http://schemas.microsoft.com/office/drawing/2014/main" val="2663934458"/>
                    </a:ext>
                  </a:extLst>
                </a:gridCol>
                <a:gridCol w="9765180">
                  <a:extLst>
                    <a:ext uri="{9D8B030D-6E8A-4147-A177-3AD203B41FA5}">
                      <a16:colId xmlns:a16="http://schemas.microsoft.com/office/drawing/2014/main" val="2404667574"/>
                    </a:ext>
                  </a:extLst>
                </a:gridCol>
              </a:tblGrid>
              <a:tr h="918584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Символьне</a:t>
                      </a:r>
                    </a:p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подання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8238467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\n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переведення курсора на початок наступного рядка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88634872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\r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переведення каретки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93971300"/>
                  </a:ext>
                </a:extLst>
              </a:tr>
              <a:tr h="32562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\t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переведення курсора на наступну позицію табуляції (відповідає клавіші </a:t>
                      </a:r>
                      <a:r>
                        <a:rPr lang="ru-RU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</a:t>
                      </a:r>
                      <a:r>
                        <a:rPr lang="ru-RU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&gt;),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67188294"/>
                  </a:ext>
                </a:extLst>
              </a:tr>
              <a:tr h="719557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\b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вилучення попереднього символу перед курсором (відповідає клавіші </a:t>
                      </a:r>
                      <a:r>
                        <a:rPr lang="ru-RU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kern="0" spc="0" baseline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BackSpace</a:t>
                      </a:r>
                      <a:r>
                        <a:rPr lang="ru-RU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&gt;),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97810497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\a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звукового сигналу системного динаміка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00433704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\\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\ (зворотна скісна риса)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53039469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\?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? (знак запитання)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49204320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\'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' (одинарні лапки)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4690189"/>
                  </a:ext>
                </a:extLst>
              </a:tr>
              <a:tr h="361966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\”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" (подвійні лапки)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46518045"/>
                  </a:ext>
                </a:extLst>
              </a:tr>
              <a:tr h="36743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spc="0" baseline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uk-UA" sz="2000" kern="0" spc="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kern="0" spc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 з кодом 0 є завершальним символом рядка символів</a:t>
                      </a:r>
                      <a:endParaRPr lang="uk-UA" sz="2000" kern="0" spc="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03310341"/>
                  </a:ext>
                </a:extLst>
              </a:tr>
            </a:tbl>
          </a:graphicData>
        </a:graphic>
      </p:graphicFrame>
      <p:sp>
        <p:nvSpPr>
          <p:cNvPr id="4" name="Прямокутник 3"/>
          <p:cNvSpPr/>
          <p:nvPr/>
        </p:nvSpPr>
        <p:spPr>
          <a:xfrm>
            <a:off x="2339809" y="405339"/>
            <a:ext cx="74688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Деякі поширені у застосуванні </a:t>
            </a:r>
            <a:r>
              <a:rPr lang="uk-UA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ескейп</a:t>
            </a:r>
            <a:r>
              <a:rPr lang="uk-UA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-послідовності</a:t>
            </a:r>
            <a:endParaRPr lang="uk-UA" sz="2400" b="1" dirty="0"/>
          </a:p>
        </p:txBody>
      </p:sp>
    </p:spTree>
    <p:extLst>
      <p:ext uri="{BB962C8B-B14F-4D97-AF65-F5344CB8AC3E}">
        <p14:creationId xmlns:p14="http://schemas.microsoft.com/office/powerpoint/2010/main" val="372928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3988526" y="42527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 cl = c + 5;</a:t>
            </a:r>
            <a:r>
              <a:rPr lang="sv-SE" dirty="0">
                <a:solidFill>
                  <a:srgbClr val="008000"/>
                </a:solidFill>
                <a:latin typeface="Consolas" panose="020B0609020204030204" pitchFamily="49" charset="0"/>
              </a:rPr>
              <a:t>//cl= 'F'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 c2 = c + 32;</a:t>
            </a:r>
            <a:r>
              <a:rPr lang="sv-SE" dirty="0">
                <a:solidFill>
                  <a:srgbClr val="008000"/>
                </a:solidFill>
                <a:latin typeface="Consolas" panose="020B0609020204030204" pitchFamily="49" charset="0"/>
              </a:rPr>
              <a:t>//c2= ’a’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c3 = c - 10;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//c2= '7'</a:t>
            </a:r>
            <a:endParaRPr lang="uk-UA" dirty="0"/>
          </a:p>
        </p:txBody>
      </p:sp>
      <p:graphicFrame>
        <p:nvGraphicFramePr>
          <p:cNvPr id="3" name="Таблиця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93212"/>
              </p:ext>
            </p:extLst>
          </p:nvPr>
        </p:nvGraphicFramePr>
        <p:xfrm>
          <a:off x="1785258" y="2036013"/>
          <a:ext cx="9440091" cy="42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13">
                  <a:extLst>
                    <a:ext uri="{9D8B030D-6E8A-4147-A177-3AD203B41FA5}">
                      <a16:colId xmlns:a16="http://schemas.microsoft.com/office/drawing/2014/main" val="213118159"/>
                    </a:ext>
                  </a:extLst>
                </a:gridCol>
                <a:gridCol w="8118478">
                  <a:extLst>
                    <a:ext uri="{9D8B030D-6E8A-4147-A177-3AD203B41FA5}">
                      <a16:colId xmlns:a16="http://schemas.microsoft.com/office/drawing/2014/main" val="1645198117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</a:rPr>
                        <a:t>Функція</a:t>
                      </a:r>
                      <a:endParaRPr lang="uk-UA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</a:rPr>
                        <a:t>Призначення</a:t>
                      </a:r>
                      <a:endParaRPr lang="uk-UA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89902036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 dirty="0" err="1">
                          <a:effectLst/>
                        </a:rPr>
                        <a:t>tolower</a:t>
                      </a:r>
                      <a:r>
                        <a:rPr lang="en-US" sz="2000" spc="-50" dirty="0">
                          <a:effectLst/>
                        </a:rPr>
                        <a:t>()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dirty="0">
                          <a:effectLst/>
                        </a:rPr>
                        <a:t>повертає символ у нижньому регістрі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8309651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 dirty="0" err="1">
                          <a:effectLst/>
                        </a:rPr>
                        <a:t>toupper</a:t>
                      </a:r>
                      <a:r>
                        <a:rPr lang="en-US" sz="2000" spc="-50" dirty="0">
                          <a:effectLst/>
                        </a:rPr>
                        <a:t>()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>
                          <a:effectLst/>
                        </a:rPr>
                        <a:t>повертає символ у верхньому регістрі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83447500"/>
                  </a:ext>
                </a:extLst>
              </a:tr>
              <a:tr h="213360">
                <a:tc gridSpan="2">
                  <a:txBody>
                    <a:bodyPr/>
                    <a:lstStyle/>
                    <a:p>
                      <a:pPr indent="-2413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b="1" dirty="0">
                          <a:effectLst/>
                        </a:rPr>
                        <a:t>Належність символу до множини перевіряють такі функції</a:t>
                      </a:r>
                      <a:r>
                        <a:rPr lang="uk-UA" sz="2000" dirty="0">
                          <a:effectLst/>
                        </a:rPr>
                        <a:t>: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087298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isalnum()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>
                          <a:effectLst/>
                        </a:rPr>
                        <a:t>латинських літер та цифр (</a:t>
                      </a:r>
                      <a:r>
                        <a:rPr lang="en-US" sz="2000" spc="-50">
                          <a:effectLst/>
                        </a:rPr>
                        <a:t>'A'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en-US" sz="2000" spc="-50">
                          <a:effectLst/>
                        </a:rPr>
                        <a:t>'Z'</a:t>
                      </a:r>
                      <a:r>
                        <a:rPr lang="uk-UA" sz="2000">
                          <a:effectLst/>
                        </a:rPr>
                        <a:t>, </a:t>
                      </a:r>
                      <a:r>
                        <a:rPr lang="en-US" sz="2000" spc="-50">
                          <a:effectLst/>
                        </a:rPr>
                        <a:t>'a'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en-US" sz="2000" spc="-50">
                          <a:effectLst/>
                        </a:rPr>
                        <a:t>'z'</a:t>
                      </a:r>
                      <a:r>
                        <a:rPr lang="uk-UA" sz="2000">
                          <a:effectLst/>
                        </a:rPr>
                        <a:t>, </a:t>
                      </a:r>
                      <a:r>
                        <a:rPr lang="en-US" sz="2000" spc="-50">
                          <a:effectLst/>
                        </a:rPr>
                        <a:t>'0'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en-US" sz="2000" spc="-50">
                          <a:effectLst/>
                        </a:rPr>
                        <a:t>'9'</a:t>
                      </a:r>
                      <a:r>
                        <a:rPr lang="uk-UA" sz="2000">
                          <a:effectLst/>
                        </a:rPr>
                        <a:t>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302643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isalpha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>
                          <a:effectLst/>
                        </a:rPr>
                        <a:t>латинських літер (</a:t>
                      </a:r>
                      <a:r>
                        <a:rPr lang="en-US" sz="2000" spc="-50">
                          <a:effectLst/>
                        </a:rPr>
                        <a:t>'A'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en-US" sz="2000" spc="-50">
                          <a:effectLst/>
                        </a:rPr>
                        <a:t>'Z'</a:t>
                      </a:r>
                      <a:r>
                        <a:rPr lang="uk-UA" sz="2000">
                          <a:effectLst/>
                        </a:rPr>
                        <a:t>, </a:t>
                      </a:r>
                      <a:r>
                        <a:rPr lang="en-US" sz="2000" spc="-50">
                          <a:effectLst/>
                        </a:rPr>
                        <a:t>'a'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en-US" sz="2000" spc="-50">
                          <a:effectLst/>
                        </a:rPr>
                        <a:t>'z'</a:t>
                      </a:r>
                      <a:r>
                        <a:rPr lang="en-US" sz="2000">
                          <a:effectLst/>
                        </a:rPr>
                        <a:t>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57957682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iscntrl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>
                          <a:effectLst/>
                        </a:rPr>
                        <a:t>керувальних символів (з кодами 0...31 та 127)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644819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isdigit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>
                          <a:effectLst/>
                        </a:rPr>
                        <a:t>цифр (</a:t>
                      </a:r>
                      <a:r>
                        <a:rPr lang="en-US" sz="2000" spc="-50">
                          <a:effectLst/>
                        </a:rPr>
                        <a:t>'0'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en-US" sz="2000" spc="-50">
                          <a:effectLst/>
                        </a:rPr>
                        <a:t>'9'</a:t>
                      </a:r>
                      <a:r>
                        <a:rPr lang="uk-UA" sz="2000">
                          <a:effectLst/>
                        </a:rPr>
                        <a:t>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0663919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isgraph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dirty="0">
                          <a:effectLst/>
                        </a:rPr>
                        <a:t>видимих символів, тобто не є відповідним до клавіш </a:t>
                      </a:r>
                      <a:r>
                        <a:rPr lang="ru-RU" sz="2000" dirty="0">
                          <a:effectLst/>
                        </a:rPr>
                        <a:t>&lt;</a:t>
                      </a:r>
                      <a:r>
                        <a:rPr lang="en-US" sz="2000" dirty="0">
                          <a:effectLst/>
                        </a:rPr>
                        <a:t>Esc</a:t>
                      </a:r>
                      <a:r>
                        <a:rPr lang="ru-RU" sz="2000" dirty="0">
                          <a:effectLst/>
                        </a:rPr>
                        <a:t>&gt;, &lt;</a:t>
                      </a:r>
                      <a:r>
                        <a:rPr lang="en-US" sz="2000" dirty="0">
                          <a:effectLst/>
                        </a:rPr>
                        <a:t>Tab</a:t>
                      </a:r>
                      <a:r>
                        <a:rPr lang="ru-RU" sz="2000" dirty="0">
                          <a:effectLst/>
                        </a:rPr>
                        <a:t>&gt; </a:t>
                      </a:r>
                      <a:r>
                        <a:rPr lang="uk-UA" sz="2000" dirty="0">
                          <a:effectLst/>
                        </a:rPr>
                        <a:t>тощо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042134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islower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>
                          <a:effectLst/>
                        </a:rPr>
                        <a:t>латинських літер нижнього регістру (</a:t>
                      </a:r>
                      <a:r>
                        <a:rPr lang="ru-RU" sz="2000" spc="-50">
                          <a:effectLst/>
                        </a:rPr>
                        <a:t>'</a:t>
                      </a:r>
                      <a:r>
                        <a:rPr lang="en-US" sz="2000" spc="-50">
                          <a:effectLst/>
                        </a:rPr>
                        <a:t>a</a:t>
                      </a:r>
                      <a:r>
                        <a:rPr lang="ru-RU" sz="2000" spc="-50">
                          <a:effectLst/>
                        </a:rPr>
                        <a:t>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ru-RU" sz="2000" spc="-50">
                          <a:effectLst/>
                        </a:rPr>
                        <a:t>'</a:t>
                      </a:r>
                      <a:r>
                        <a:rPr lang="en-US" sz="2000" spc="-50">
                          <a:effectLst/>
                        </a:rPr>
                        <a:t>z</a:t>
                      </a:r>
                      <a:r>
                        <a:rPr lang="ru-RU" sz="2000" spc="-50">
                          <a:effectLst/>
                        </a:rPr>
                        <a:t>'</a:t>
                      </a:r>
                      <a:r>
                        <a:rPr lang="uk-UA" sz="2000">
                          <a:effectLst/>
                        </a:rPr>
                        <a:t>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2321392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isprint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dirty="0">
                          <a:effectLst/>
                        </a:rPr>
                        <a:t>друкованих символів 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spc="-50" dirty="0" err="1">
                          <a:effectLst/>
                        </a:rPr>
                        <a:t>isgraph</a:t>
                      </a:r>
                      <a:r>
                        <a:rPr lang="en-US" sz="2000" spc="-50" dirty="0">
                          <a:effectLst/>
                        </a:rPr>
                        <a:t> () </a:t>
                      </a:r>
                      <a:r>
                        <a:rPr lang="uk-UA" sz="2000" dirty="0">
                          <a:effectLst/>
                        </a:rPr>
                        <a:t>+ пробіл)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7043614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isupper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>
                          <a:effectLst/>
                        </a:rPr>
                        <a:t>літер верхнього регістру ( </a:t>
                      </a:r>
                      <a:r>
                        <a:rPr lang="ru-RU" sz="2000" spc="-50">
                          <a:effectLst/>
                        </a:rPr>
                        <a:t>'</a:t>
                      </a:r>
                      <a:r>
                        <a:rPr lang="en-US" sz="2000" spc="-50">
                          <a:effectLst/>
                        </a:rPr>
                        <a:t>A</a:t>
                      </a:r>
                      <a:r>
                        <a:rPr lang="ru-RU" sz="2000" spc="-50">
                          <a:effectLst/>
                        </a:rPr>
                        <a:t>' </a:t>
                      </a:r>
                      <a:r>
                        <a:rPr lang="uk-UA" sz="2000">
                          <a:effectLst/>
                        </a:rPr>
                        <a:t>- </a:t>
                      </a:r>
                      <a:r>
                        <a:rPr lang="ru-RU" sz="2000" spc="-50">
                          <a:effectLst/>
                        </a:rPr>
                        <a:t>'</a:t>
                      </a:r>
                      <a:r>
                        <a:rPr lang="en-US" sz="2000" spc="-50">
                          <a:effectLst/>
                        </a:rPr>
                        <a:t>Z</a:t>
                      </a:r>
                      <a:r>
                        <a:rPr lang="ru-RU" sz="2000" spc="-50">
                          <a:effectLst/>
                        </a:rPr>
                        <a:t>'</a:t>
                      </a:r>
                      <a:r>
                        <a:rPr lang="uk-UA" sz="2000">
                          <a:effectLst/>
                        </a:rPr>
                        <a:t>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75654414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ispunct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dirty="0">
                          <a:effectLst/>
                        </a:rPr>
                        <a:t>знаків пунктуації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20120754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spc="-50">
                          <a:effectLst/>
                        </a:rPr>
                        <a:t>isspace ()</a:t>
                      </a:r>
                      <a:endParaRPr lang="uk-UA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2000" dirty="0">
                          <a:effectLst/>
                        </a:rPr>
                        <a:t>символів-роздільників</a:t>
                      </a:r>
                      <a:endParaRPr lang="uk-UA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37257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95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2504181" y="178918"/>
            <a:ext cx="67648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Поширені алгоритми опрацювання символьних змінних</a:t>
            </a:r>
            <a:endParaRPr lang="uk-UA" sz="2000" b="1" dirty="0"/>
          </a:p>
        </p:txBody>
      </p:sp>
      <p:sp>
        <p:nvSpPr>
          <p:cNvPr id="3" name="Прямокутник 2"/>
          <p:cNvSpPr/>
          <p:nvPr/>
        </p:nvSpPr>
        <p:spPr>
          <a:xfrm>
            <a:off x="1020443" y="1293614"/>
            <a:ext cx="3602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ru-RU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</a:t>
            </a:r>
            <a:r>
              <a:rPr lang="ru-RU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&gt;='0' 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&amp;&amp; c</a:t>
            </a:r>
            <a:r>
              <a:rPr lang="ru-RU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&lt;='9') 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 . .</a:t>
            </a:r>
            <a:endParaRPr lang="uk-UA" b="1" dirty="0"/>
          </a:p>
        </p:txBody>
      </p:sp>
      <p:sp>
        <p:nvSpPr>
          <p:cNvPr id="4" name="Прямокутник 3"/>
          <p:cNvSpPr/>
          <p:nvPr/>
        </p:nvSpPr>
        <p:spPr>
          <a:xfrm>
            <a:off x="7262179" y="1348757"/>
            <a:ext cx="2945037" cy="2866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698500" algn="just">
              <a:lnSpc>
                <a:spcPts val="1300"/>
              </a:lnSpc>
              <a:spcAft>
                <a:spcPts val="0"/>
              </a:spcAft>
            </a:pP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if(</a:t>
            </a:r>
            <a:r>
              <a:rPr lang="en-US" b="1" spc="-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isdigit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(c)) 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 . .</a:t>
            </a:r>
            <a:endParaRPr lang="uk-UA" b="1" spc="-5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5" name="Подвійна стрілка вліво/вправо 4"/>
          <p:cNvSpPr/>
          <p:nvPr/>
        </p:nvSpPr>
        <p:spPr>
          <a:xfrm>
            <a:off x="5559964" y="2724328"/>
            <a:ext cx="801189" cy="16546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кутник 5"/>
          <p:cNvSpPr/>
          <p:nvPr/>
        </p:nvSpPr>
        <p:spPr>
          <a:xfrm>
            <a:off x="1188117" y="2663752"/>
            <a:ext cx="3470822" cy="2866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698500" algn="just">
              <a:lnSpc>
                <a:spcPts val="1300"/>
              </a:lnSpc>
              <a:spcAft>
                <a:spcPts val="0"/>
              </a:spcAft>
              <a:tabLst>
                <a:tab pos="2935605" algn="l"/>
              </a:tabLst>
            </a:pP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if(c&gt;='A' 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&amp;&amp; 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c&lt;='Z')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 . .</a:t>
            </a:r>
            <a:endParaRPr lang="uk-UA" b="1" spc="-5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7" name="Прямокутник 6"/>
          <p:cNvSpPr/>
          <p:nvPr/>
        </p:nvSpPr>
        <p:spPr>
          <a:xfrm>
            <a:off x="7262178" y="2663752"/>
            <a:ext cx="2945037" cy="2866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698500" algn="just">
              <a:lnSpc>
                <a:spcPts val="1300"/>
              </a:lnSpc>
              <a:spcAft>
                <a:spcPts val="0"/>
              </a:spcAft>
            </a:pP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if(</a:t>
            </a:r>
            <a:r>
              <a:rPr lang="en-US" b="1" spc="-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isupper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(c)) 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 . .</a:t>
            </a:r>
            <a:endParaRPr lang="uk-UA" b="1" spc="-5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8" name="Прямокутник 7"/>
          <p:cNvSpPr/>
          <p:nvPr/>
        </p:nvSpPr>
        <p:spPr>
          <a:xfrm>
            <a:off x="265153" y="3453679"/>
            <a:ext cx="6096000" cy="34432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698500" algn="just">
              <a:lnSpc>
                <a:spcPts val="1870"/>
              </a:lnSpc>
              <a:spcAft>
                <a:spcPts val="0"/>
              </a:spcAft>
              <a:tabLst>
                <a:tab pos="2935605" algn="l"/>
                <a:tab pos="4740275" algn="l"/>
              </a:tabLst>
            </a:pP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if(c&gt;='A' 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&amp;&amp; 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c&lt;=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'||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c&gt;='a' 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&amp;&amp; 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c&lt;='z')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 . .</a:t>
            </a:r>
            <a:endParaRPr lang="uk-UA" b="1" spc="-5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9" name="Прямокутник 8"/>
          <p:cNvSpPr/>
          <p:nvPr/>
        </p:nvSpPr>
        <p:spPr>
          <a:xfrm>
            <a:off x="7262178" y="3350766"/>
            <a:ext cx="2945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if(</a:t>
            </a:r>
            <a:r>
              <a:rPr lang="en-US" b="1" spc="-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isalpha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(c)) . . .</a:t>
            </a:r>
            <a:endParaRPr lang="uk-UA" b="1" dirty="0"/>
          </a:p>
        </p:txBody>
      </p:sp>
      <p:sp>
        <p:nvSpPr>
          <p:cNvPr id="10" name="Подвійна стрілка вліво/вправо 9"/>
          <p:cNvSpPr/>
          <p:nvPr/>
        </p:nvSpPr>
        <p:spPr>
          <a:xfrm>
            <a:off x="5497926" y="1403483"/>
            <a:ext cx="801189" cy="16546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Подвійна стрілка вліво/вправо 10"/>
          <p:cNvSpPr/>
          <p:nvPr/>
        </p:nvSpPr>
        <p:spPr>
          <a:xfrm>
            <a:off x="6134730" y="3459109"/>
            <a:ext cx="801189" cy="16546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/>
          <p:cNvSpPr/>
          <p:nvPr/>
        </p:nvSpPr>
        <p:spPr>
          <a:xfrm>
            <a:off x="2234973" y="4835102"/>
            <a:ext cx="2156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 = </a:t>
            </a:r>
            <a:r>
              <a:rPr lang="en-US" b="1" spc="-5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toupper</a:t>
            </a:r>
            <a:r>
              <a:rPr lang="ru-RU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</a:t>
            </a:r>
            <a:r>
              <a:rPr lang="ru-RU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uk-UA" b="1" dirty="0"/>
          </a:p>
        </p:txBody>
      </p:sp>
      <p:sp>
        <p:nvSpPr>
          <p:cNvPr id="13" name="Прямокутник 12"/>
          <p:cNvSpPr/>
          <p:nvPr/>
        </p:nvSpPr>
        <p:spPr>
          <a:xfrm>
            <a:off x="6164752" y="4905568"/>
            <a:ext cx="2287806" cy="2866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698500" algn="just">
              <a:lnSpc>
                <a:spcPts val="1300"/>
              </a:lnSpc>
              <a:spcAft>
                <a:spcPts val="0"/>
              </a:spcAft>
            </a:pP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 c 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 </a:t>
            </a:r>
            <a:r>
              <a:rPr lang="en-US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 </a:t>
            </a:r>
            <a:r>
              <a:rPr lang="uk-UA" b="1" spc="-5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- 32;</a:t>
            </a:r>
            <a:endParaRPr lang="uk-UA" b="1" spc="-50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14" name="Подвійна стрілка вліво/вправо 13"/>
          <p:cNvSpPr/>
          <p:nvPr/>
        </p:nvSpPr>
        <p:spPr>
          <a:xfrm>
            <a:off x="4877448" y="4937036"/>
            <a:ext cx="801189" cy="16546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328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57852" y="221723"/>
            <a:ext cx="2735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/>
              <a:t>Рядки </a:t>
            </a:r>
            <a:r>
              <a:rPr lang="uk-UA" sz="2000" i="1" dirty="0"/>
              <a:t>оголошення</a:t>
            </a:r>
            <a:endParaRPr lang="uk-UA" sz="6600" i="1" dirty="0"/>
          </a:p>
        </p:txBody>
      </p:sp>
      <p:sp>
        <p:nvSpPr>
          <p:cNvPr id="4" name="Прямокутник 3"/>
          <p:cNvSpPr/>
          <p:nvPr/>
        </p:nvSpPr>
        <p:spPr>
          <a:xfrm>
            <a:off x="670560" y="1078081"/>
            <a:ext cx="1073766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1)</a:t>
            </a: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*s;	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Оголошення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вказівника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на перший символ рядка;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		//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пам’ять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під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сам рядок не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виділяється</a:t>
            </a: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2)</a:t>
            </a:r>
          </a:p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 panose="020B0609020204030204" pitchFamily="49" charset="0"/>
              </a:rPr>
              <a:t>ss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[15];	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Оголошення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рядка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ss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з 15-ти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символів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		// пам’ять виділяється компілятором</a:t>
            </a:r>
          </a:p>
          <a:p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3)</a:t>
            </a:r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 = 10;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[n];</a:t>
            </a:r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Оголошення рядка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st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з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 (</a:t>
            </a:r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тобто 10-ти) символів;</a:t>
            </a:r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		// пам’ять виділяється компілятором</a:t>
            </a:r>
          </a:p>
          <a:p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4)</a:t>
            </a:r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 = 10;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[n]; </a:t>
            </a:r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Оголошення рядка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str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з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 (</a:t>
            </a:r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тобто 10)</a:t>
            </a:r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				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символів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пам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’ять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виділяється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динамічно</a:t>
            </a:r>
            <a:endParaRPr lang="uk-UA" dirty="0"/>
          </a:p>
        </p:txBody>
      </p:sp>
      <p:sp>
        <p:nvSpPr>
          <p:cNvPr id="5" name="Прямокутник 4"/>
          <p:cNvSpPr/>
          <p:nvPr/>
        </p:nvSpPr>
        <p:spPr>
          <a:xfrm>
            <a:off x="670560" y="5950681"/>
            <a:ext cx="94662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>
                <a:latin typeface="Consolas" panose="020B0609020204030204" pitchFamily="49" charset="0"/>
              </a:rPr>
              <a:t>5)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Vasia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dirty="0">
                <a:solidFill>
                  <a:srgbClr val="008000"/>
                </a:solidFill>
                <a:latin typeface="Consolas" panose="020B0609020204030204" pitchFamily="49" charset="0"/>
              </a:rPr>
              <a:t>Виділено й заповнено 6 байтів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6746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4012" y="221723"/>
            <a:ext cx="3612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/>
              <a:t>Рядки </a:t>
            </a:r>
            <a:r>
              <a:rPr lang="uk-UA" sz="2000" i="1" dirty="0"/>
              <a:t>введення-виведення</a:t>
            </a:r>
            <a:endParaRPr lang="uk-UA" sz="6600" i="1" dirty="0"/>
          </a:p>
        </p:txBody>
      </p:sp>
      <p:sp>
        <p:nvSpPr>
          <p:cNvPr id="3" name="Прямокутник 2"/>
          <p:cNvSpPr/>
          <p:nvPr/>
        </p:nvSpPr>
        <p:spPr>
          <a:xfrm>
            <a:off x="1489166" y="128658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 = 10;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s[n];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  <a:endParaRPr lang="uk-UA" dirty="0"/>
          </a:p>
        </p:txBody>
      </p:sp>
      <p:sp>
        <p:nvSpPr>
          <p:cNvPr id="4" name="Прямокутник 3"/>
          <p:cNvSpPr/>
          <p:nvPr/>
        </p:nvSpPr>
        <p:spPr>
          <a:xfrm>
            <a:off x="3257006" y="280187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s[4];</a:t>
            </a:r>
          </a:p>
          <a:p>
            <a:r>
              <a:rPr lang="uk-UA" dirty="0" err="1">
                <a:solidFill>
                  <a:srgbClr val="000000"/>
                </a:solidFill>
                <a:latin typeface="Consolas" panose="020B0609020204030204" pitchFamily="49" charset="0"/>
              </a:rPr>
              <a:t>со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uk-UA" dirty="0">
                <a:solidFill>
                  <a:srgbClr val="A31515"/>
                </a:solidFill>
                <a:latin typeface="Consolas" panose="020B0609020204030204" pitchFamily="49" charset="0"/>
              </a:rPr>
              <a:t>Введіть рядок: "</a:t>
            </a:r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cin.getline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(s, 4);</a:t>
            </a:r>
            <a:endParaRPr lang="uk-UA" dirty="0"/>
          </a:p>
        </p:txBody>
      </p:sp>
      <p:sp>
        <p:nvSpPr>
          <p:cNvPr id="5" name="Прямокутник 4"/>
          <p:cNvSpPr/>
          <p:nvPr/>
        </p:nvSpPr>
        <p:spPr>
          <a:xfrm>
            <a:off x="4711337" y="431716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s[4];</a:t>
            </a:r>
          </a:p>
          <a:p>
            <a:r>
              <a:rPr lang="uk-UA" dirty="0" err="1">
                <a:solidFill>
                  <a:srgbClr val="000000"/>
                </a:solidFill>
                <a:latin typeface="Consolas" panose="020B0609020204030204" pitchFamily="49" charset="0"/>
              </a:rPr>
              <a:t>со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uk-UA" dirty="0">
                <a:solidFill>
                  <a:srgbClr val="A31515"/>
                </a:solidFill>
                <a:latin typeface="Consolas" panose="020B0609020204030204" pitchFamily="49" charset="0"/>
              </a:rPr>
              <a:t>Введіть рядок: "</a:t>
            </a:r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gets_s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  <a:endParaRPr lang="uk-UA" dirty="0"/>
          </a:p>
        </p:txBody>
      </p:sp>
      <p:sp>
        <p:nvSpPr>
          <p:cNvPr id="6" name="Прямокутник 5"/>
          <p:cNvSpPr/>
          <p:nvPr/>
        </p:nvSpPr>
        <p:spPr>
          <a:xfrm>
            <a:off x="6120340" y="5720576"/>
            <a:ext cx="44903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uk-UA" dirty="0">
                <a:solidFill>
                  <a:srgbClr val="A31515"/>
                </a:solidFill>
                <a:latin typeface="Consolas" panose="020B0609020204030204" pitchFamily="49" charset="0"/>
              </a:rPr>
              <a:t>Комп'ютерна програма”;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28412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/>
          <p:cNvSpPr/>
          <p:nvPr/>
        </p:nvSpPr>
        <p:spPr>
          <a:xfrm>
            <a:off x="2826125" y="0"/>
            <a:ext cx="6845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Функції стандартної бібліотеки &lt;с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string</a:t>
            </a:r>
            <a:r>
              <a:rPr lang="uk-UA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&gt;</a:t>
            </a:r>
            <a:endParaRPr lang="uk-UA" sz="2800" b="1" dirty="0"/>
          </a:p>
        </p:txBody>
      </p:sp>
      <p:graphicFrame>
        <p:nvGraphicFramePr>
          <p:cNvPr id="4" name="Таблиця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250233"/>
              </p:ext>
            </p:extLst>
          </p:nvPr>
        </p:nvGraphicFramePr>
        <p:xfrm>
          <a:off x="152888" y="924628"/>
          <a:ext cx="12192001" cy="561151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44986">
                  <a:extLst>
                    <a:ext uri="{9D8B030D-6E8A-4147-A177-3AD203B41FA5}">
                      <a16:colId xmlns:a16="http://schemas.microsoft.com/office/drawing/2014/main" val="385031362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72434088"/>
                    </a:ext>
                  </a:extLst>
                </a:gridCol>
                <a:gridCol w="4446215">
                  <a:extLst>
                    <a:ext uri="{9D8B030D-6E8A-4147-A177-3AD203B41FA5}">
                      <a16:colId xmlns:a16="http://schemas.microsoft.com/office/drawing/2014/main" val="4267135556"/>
                    </a:ext>
                  </a:extLst>
                </a:gridCol>
              </a:tblGrid>
              <a:tr h="138899">
                <a:tc>
                  <a:txBody>
                    <a:bodyPr/>
                    <a:lstStyle/>
                    <a:p>
                      <a:pPr indent="-2413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b="1" dirty="0">
                          <a:effectLst/>
                        </a:rPr>
                        <a:t>Функція</a:t>
                      </a:r>
                      <a:endParaRPr lang="uk-UA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b="1" dirty="0">
                          <a:effectLst/>
                        </a:rPr>
                        <a:t>Призначення</a:t>
                      </a:r>
                      <a:endParaRPr lang="uk-UA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b="1" dirty="0">
                          <a:effectLst/>
                        </a:rPr>
                        <a:t>Формат</a:t>
                      </a:r>
                      <a:endParaRPr lang="uk-UA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1405704"/>
                  </a:ext>
                </a:extLst>
              </a:tr>
              <a:tr h="26994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strlen()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</a:rPr>
                        <a:t>повертає довжину рядка (без урахування символу завершення рядка)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</a:rPr>
                        <a:t>size t </a:t>
                      </a:r>
                      <a:r>
                        <a:rPr lang="en-US" sz="1800" spc="-50" dirty="0" err="1">
                          <a:effectLst/>
                        </a:rPr>
                        <a:t>strlen</a:t>
                      </a:r>
                      <a:r>
                        <a:rPr lang="en-US" sz="1800" spc="-50" dirty="0">
                          <a:effectLst/>
                        </a:rPr>
                        <a:t> (char *s) 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24265629"/>
                  </a:ext>
                </a:extLst>
              </a:tr>
              <a:tr h="285652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strcat()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</a:rPr>
                        <a:t>долучає </a:t>
                      </a:r>
                      <a:r>
                        <a:rPr lang="en-US" sz="1800" spc="-50" dirty="0">
                          <a:effectLst/>
                        </a:rPr>
                        <a:t>s</a:t>
                      </a:r>
                      <a:r>
                        <a:rPr lang="ru-RU" sz="1800" spc="-50" dirty="0">
                          <a:effectLst/>
                        </a:rPr>
                        <a:t>2 </a:t>
                      </a:r>
                      <a:r>
                        <a:rPr lang="uk-UA" sz="1800" dirty="0">
                          <a:effectLst/>
                        </a:rPr>
                        <a:t>до </a:t>
                      </a:r>
                      <a:r>
                        <a:rPr lang="en-US" sz="1800" spc="-50" dirty="0">
                          <a:effectLst/>
                        </a:rPr>
                        <a:t>s</a:t>
                      </a:r>
                      <a:r>
                        <a:rPr lang="ru-RU" sz="1800" spc="-50" dirty="0">
                          <a:effectLst/>
                        </a:rPr>
                        <a:t>1 </a:t>
                      </a:r>
                      <a:r>
                        <a:rPr lang="uk-UA" sz="1800" dirty="0">
                          <a:effectLst/>
                        </a:rPr>
                        <a:t>і, як результат, повертає </a:t>
                      </a:r>
                      <a:r>
                        <a:rPr lang="en-US" sz="1800" spc="-50" dirty="0">
                          <a:effectLst/>
                        </a:rPr>
                        <a:t>s</a:t>
                      </a:r>
                      <a:r>
                        <a:rPr lang="ru-RU" sz="1800" spc="-50" dirty="0">
                          <a:effectLst/>
                        </a:rPr>
                        <a:t>1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</a:rPr>
                        <a:t>char *</a:t>
                      </a:r>
                      <a:r>
                        <a:rPr lang="en-US" sz="1800" spc="-50" dirty="0" err="1">
                          <a:effectLst/>
                        </a:rPr>
                        <a:t>strcat</a:t>
                      </a:r>
                      <a:r>
                        <a:rPr lang="en-US" sz="1800" spc="-50" dirty="0">
                          <a:effectLst/>
                        </a:rPr>
                        <a:t>(char *s1, char *s2);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95036188"/>
                  </a:ext>
                </a:extLst>
              </a:tr>
              <a:tr h="285652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strncat()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</a:rPr>
                        <a:t>долучає до рядка </a:t>
                      </a:r>
                      <a:r>
                        <a:rPr lang="en-US" sz="1800" spc="-50" dirty="0">
                          <a:effectLst/>
                        </a:rPr>
                        <a:t>s</a:t>
                      </a:r>
                      <a:r>
                        <a:rPr lang="ru-RU" sz="1800" spc="-50" dirty="0">
                          <a:effectLst/>
                        </a:rPr>
                        <a:t>1 </a:t>
                      </a:r>
                      <a:r>
                        <a:rPr lang="uk-UA" sz="1800" dirty="0">
                          <a:effectLst/>
                        </a:rPr>
                        <a:t>перші </a:t>
                      </a:r>
                      <a:r>
                        <a:rPr lang="en-US" sz="1800" spc="-50" dirty="0">
                          <a:effectLst/>
                        </a:rPr>
                        <a:t>n </a:t>
                      </a:r>
                      <a:r>
                        <a:rPr lang="uk-UA" sz="1800" dirty="0">
                          <a:effectLst/>
                        </a:rPr>
                        <a:t>символів з рядка </a:t>
                      </a:r>
                      <a:r>
                        <a:rPr lang="en-US" sz="1800" spc="-50" dirty="0">
                          <a:effectLst/>
                        </a:rPr>
                        <a:t>s</a:t>
                      </a:r>
                      <a:r>
                        <a:rPr lang="ru-RU" sz="1800" spc="-50" dirty="0">
                          <a:effectLst/>
                        </a:rPr>
                        <a:t>2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</a:rPr>
                        <a:t>char * </a:t>
                      </a:r>
                      <a:r>
                        <a:rPr lang="en-US" sz="1800" spc="-50" dirty="0" err="1">
                          <a:effectLst/>
                        </a:rPr>
                        <a:t>strncat</a:t>
                      </a:r>
                      <a:r>
                        <a:rPr lang="en-US" sz="1800" spc="-50" dirty="0">
                          <a:effectLst/>
                        </a:rPr>
                        <a:t> (char *s1, char *s2, size t n);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56489564"/>
                  </a:ext>
                </a:extLst>
              </a:tr>
              <a:tr h="26994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 err="1">
                          <a:effectLst/>
                        </a:rPr>
                        <a:t>strlwr</a:t>
                      </a:r>
                      <a:r>
                        <a:rPr lang="en-US" sz="1800" spc="-50" dirty="0">
                          <a:effectLst/>
                        </a:rPr>
                        <a:t>()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</a:rPr>
                        <a:t>перетворює всі латинські літери до нижнього регістру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</a:rPr>
                        <a:t>char *</a:t>
                      </a:r>
                      <a:r>
                        <a:rPr lang="en-US" sz="1800" spc="-50" dirty="0" err="1">
                          <a:effectLst/>
                        </a:rPr>
                        <a:t>strlwr</a:t>
                      </a:r>
                      <a:r>
                        <a:rPr lang="en-US" sz="1800" spc="-50" dirty="0">
                          <a:effectLst/>
                        </a:rPr>
                        <a:t>(char *s);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61657638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strupr()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</a:rPr>
                        <a:t>перетворює всі латинські літери до верхнього регістру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</a:rPr>
                        <a:t>char *</a:t>
                      </a:r>
                      <a:r>
                        <a:rPr lang="en-US" sz="1800" spc="-50" dirty="0" err="1">
                          <a:effectLst/>
                        </a:rPr>
                        <a:t>strupr</a:t>
                      </a:r>
                      <a:r>
                        <a:rPr lang="en-US" sz="1800" spc="-50" dirty="0">
                          <a:effectLst/>
                        </a:rPr>
                        <a:t>(char *s);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2547510"/>
                  </a:ext>
                </a:extLst>
              </a:tr>
              <a:tr h="925992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 err="1">
                          <a:effectLst/>
                        </a:rPr>
                        <a:t>strcmp</a:t>
                      </a:r>
                      <a:r>
                        <a:rPr lang="en-US" sz="1800" spc="-50" dirty="0">
                          <a:effectLst/>
                        </a:rPr>
                        <a:t>()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</a:rPr>
                        <a:t>порівнює рядки і повертає нульове значення, якщо рядки є однакові (</a:t>
                      </a:r>
                      <a:r>
                        <a:rPr lang="en-US" sz="1800" spc="-50" dirty="0">
                          <a:effectLst/>
                        </a:rPr>
                        <a:t>s1=s2</a:t>
                      </a:r>
                      <a:r>
                        <a:rPr lang="uk-UA" sz="1800" dirty="0">
                          <a:effectLst/>
                        </a:rPr>
                        <a:t>), від’ємне (</a:t>
                      </a:r>
                      <a:r>
                        <a:rPr lang="en-US" sz="1800" spc="-50" dirty="0">
                          <a:effectLst/>
                        </a:rPr>
                        <a:t>s1&lt;s2</a:t>
                      </a:r>
                      <a:r>
                        <a:rPr lang="uk-UA" sz="1800" dirty="0">
                          <a:effectLst/>
                        </a:rPr>
                        <a:t>) чи додатне (</a:t>
                      </a:r>
                      <a:r>
                        <a:rPr lang="en-US" sz="1800" spc="-50" dirty="0">
                          <a:effectLst/>
                        </a:rPr>
                        <a:t>s1&gt;s2</a:t>
                      </a:r>
                      <a:r>
                        <a:rPr lang="uk-UA" sz="1800" dirty="0">
                          <a:effectLst/>
                        </a:rPr>
                        <a:t>). Порівняння відбувається </a:t>
                      </a:r>
                      <a:r>
                        <a:rPr lang="uk-UA" sz="1800" dirty="0" err="1">
                          <a:effectLst/>
                        </a:rPr>
                        <a:t>посимвольно</a:t>
                      </a:r>
                      <a:r>
                        <a:rPr lang="uk-UA" sz="1800" dirty="0">
                          <a:effectLst/>
                        </a:rPr>
                        <a:t> і в якості результату повертається різниця кодів перших неоднакових символів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 err="1">
                          <a:effectLst/>
                        </a:rPr>
                        <a:t>int</a:t>
                      </a:r>
                      <a:r>
                        <a:rPr lang="en-US" sz="1800" spc="-50" dirty="0">
                          <a:effectLst/>
                        </a:rPr>
                        <a:t> *</a:t>
                      </a:r>
                      <a:r>
                        <a:rPr lang="en-US" sz="1800" spc="-50" dirty="0" err="1">
                          <a:effectLst/>
                        </a:rPr>
                        <a:t>strcmp</a:t>
                      </a:r>
                      <a:r>
                        <a:rPr lang="en-US" sz="1800" spc="-50" dirty="0">
                          <a:effectLst/>
                        </a:rPr>
                        <a:t>(char *</a:t>
                      </a:r>
                      <a:r>
                        <a:rPr lang="en-US" sz="1800" spc="-50" dirty="0" err="1">
                          <a:effectLst/>
                        </a:rPr>
                        <a:t>si</a:t>
                      </a:r>
                      <a:r>
                        <a:rPr lang="en-US" sz="1800" spc="-50" dirty="0">
                          <a:effectLst/>
                        </a:rPr>
                        <a:t>, char *s2);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62218510"/>
                  </a:ext>
                </a:extLst>
              </a:tr>
              <a:tr h="421657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strncmp()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</a:rPr>
                        <a:t>на відміну від попередньої функції, порівнює лише перші </a:t>
                      </a:r>
                      <a:r>
                        <a:rPr lang="en-US" sz="1800" spc="-50" dirty="0">
                          <a:effectLst/>
                        </a:rPr>
                        <a:t>n </a:t>
                      </a:r>
                      <a:r>
                        <a:rPr lang="uk-UA" sz="1800" dirty="0">
                          <a:effectLst/>
                        </a:rPr>
                        <a:t>символів рядка </a:t>
                      </a:r>
                      <a:r>
                        <a:rPr lang="en-US" sz="1800" spc="-50" dirty="0" err="1">
                          <a:effectLst/>
                        </a:rPr>
                        <a:t>si</a:t>
                      </a:r>
                      <a:r>
                        <a:rPr lang="en-US" sz="1800" spc="-50" dirty="0">
                          <a:effectLst/>
                        </a:rPr>
                        <a:t> </a:t>
                      </a:r>
                      <a:r>
                        <a:rPr lang="uk-UA" sz="1800" dirty="0">
                          <a:effectLst/>
                        </a:rPr>
                        <a:t>з </a:t>
                      </a:r>
                      <a:r>
                        <a:rPr lang="en-US" sz="1800" spc="-50" dirty="0">
                          <a:effectLst/>
                        </a:rPr>
                        <a:t>n </a:t>
                      </a:r>
                      <a:r>
                        <a:rPr lang="uk-UA" sz="1800" dirty="0">
                          <a:effectLst/>
                        </a:rPr>
                        <a:t>символами рядка </a:t>
                      </a:r>
                      <a:r>
                        <a:rPr lang="en-US" sz="1800" spc="-50" dirty="0">
                          <a:effectLst/>
                        </a:rPr>
                        <a:t>s2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 err="1">
                          <a:effectLst/>
                        </a:rPr>
                        <a:t>int</a:t>
                      </a:r>
                      <a:r>
                        <a:rPr lang="en-US" sz="1800" spc="-50" dirty="0">
                          <a:effectLst/>
                        </a:rPr>
                        <a:t> *</a:t>
                      </a:r>
                      <a:r>
                        <a:rPr lang="en-US" sz="1800" spc="-50" dirty="0" err="1">
                          <a:effectLst/>
                        </a:rPr>
                        <a:t>strncmp</a:t>
                      </a:r>
                      <a:r>
                        <a:rPr lang="uk-UA" sz="1800" spc="-50" dirty="0">
                          <a:effectLst/>
                        </a:rPr>
                        <a:t> </a:t>
                      </a:r>
                      <a:r>
                        <a:rPr lang="en-US" sz="1800" spc="-50" dirty="0">
                          <a:effectLst/>
                        </a:rPr>
                        <a:t>(char *</a:t>
                      </a:r>
                      <a:r>
                        <a:rPr lang="en-US" sz="1800" spc="-50" dirty="0" err="1">
                          <a:effectLst/>
                        </a:rPr>
                        <a:t>si</a:t>
                      </a:r>
                      <a:r>
                        <a:rPr lang="en-US" sz="1800" spc="-50" dirty="0">
                          <a:effectLst/>
                        </a:rPr>
                        <a:t>, char *s2, size t n);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73459821"/>
                  </a:ext>
                </a:extLst>
              </a:tr>
              <a:tr h="26994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stricmp()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effectLst/>
                        </a:rPr>
                        <a:t>порівнює два рядки, не розрізнюючи прописні й малі літери латиниці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228600" indent="-46038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 err="1">
                          <a:effectLst/>
                        </a:rPr>
                        <a:t>int</a:t>
                      </a:r>
                      <a:r>
                        <a:rPr lang="en-US" sz="1800" spc="-50" dirty="0">
                          <a:effectLst/>
                        </a:rPr>
                        <a:t> </a:t>
                      </a:r>
                      <a:r>
                        <a:rPr lang="en-US" sz="1800" spc="-50" dirty="0" err="1">
                          <a:effectLst/>
                        </a:rPr>
                        <a:t>stricmp</a:t>
                      </a:r>
                      <a:r>
                        <a:rPr lang="en-US" sz="1800" spc="-50" dirty="0">
                          <a:effectLst/>
                        </a:rPr>
                        <a:t> (char*</a:t>
                      </a:r>
                      <a:r>
                        <a:rPr lang="en-US" sz="1800" spc="-50" dirty="0" err="1">
                          <a:effectLst/>
                        </a:rPr>
                        <a:t>si</a:t>
                      </a:r>
                      <a:r>
                        <a:rPr lang="en-US" sz="1800" spc="-50" dirty="0">
                          <a:effectLst/>
                        </a:rPr>
                        <a:t>, char *s2);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98517911"/>
                  </a:ext>
                </a:extLst>
              </a:tr>
              <a:tr h="410909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strnicmp()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effectLst/>
                        </a:rPr>
                        <a:t>порівнює лише перші </a:t>
                      </a:r>
                      <a:r>
                        <a:rPr lang="en-US" sz="1800" spc="-50">
                          <a:effectLst/>
                        </a:rPr>
                        <a:t>n </a:t>
                      </a:r>
                      <a:r>
                        <a:rPr lang="uk-UA" sz="1800">
                          <a:effectLst/>
                        </a:rPr>
                        <a:t>символів двох рядків, не розрізняючи великі й малі літери латиниці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 err="1">
                          <a:effectLst/>
                        </a:rPr>
                        <a:t>int</a:t>
                      </a:r>
                      <a:r>
                        <a:rPr lang="en-US" sz="1800" spc="-50" dirty="0">
                          <a:effectLst/>
                        </a:rPr>
                        <a:t> </a:t>
                      </a:r>
                      <a:r>
                        <a:rPr lang="en-US" sz="1800" spc="-50" dirty="0" err="1">
                          <a:effectLst/>
                        </a:rPr>
                        <a:t>strnicmp</a:t>
                      </a:r>
                      <a:r>
                        <a:rPr lang="uk-UA" sz="1800" spc="-50" dirty="0">
                          <a:effectLst/>
                        </a:rPr>
                        <a:t> </a:t>
                      </a:r>
                      <a:r>
                        <a:rPr lang="en-US" sz="1800" spc="-50" dirty="0">
                          <a:effectLst/>
                        </a:rPr>
                        <a:t>(char *</a:t>
                      </a:r>
                      <a:r>
                        <a:rPr lang="en-US" sz="1800" spc="-50" dirty="0" err="1">
                          <a:effectLst/>
                        </a:rPr>
                        <a:t>si</a:t>
                      </a:r>
                      <a:r>
                        <a:rPr lang="en-US" sz="1800" spc="-50" dirty="0">
                          <a:effectLst/>
                        </a:rPr>
                        <a:t>, char *s2, size t </a:t>
                      </a:r>
                      <a:r>
                        <a:rPr lang="en-US" sz="1800" spc="-50" dirty="0" err="1">
                          <a:effectLst/>
                        </a:rPr>
                        <a:t>maxlen</a:t>
                      </a:r>
                      <a:r>
                        <a:rPr lang="en-US" sz="1800" spc="-50" dirty="0">
                          <a:effectLst/>
                        </a:rPr>
                        <a:t>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72359297"/>
                  </a:ext>
                </a:extLst>
              </a:tr>
              <a:tr h="421657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strcpy()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effectLst/>
                        </a:rPr>
                        <a:t>копіює до </a:t>
                      </a:r>
                      <a:r>
                        <a:rPr lang="en-US" sz="1800" spc="-50">
                          <a:effectLst/>
                        </a:rPr>
                        <a:t>si </a:t>
                      </a:r>
                      <a:r>
                        <a:rPr lang="uk-UA" sz="1800">
                          <a:effectLst/>
                        </a:rPr>
                        <a:t>рядок </a:t>
                      </a:r>
                      <a:r>
                        <a:rPr lang="en-US" sz="1800" spc="-50">
                          <a:effectLst/>
                        </a:rPr>
                        <a:t>s</a:t>
                      </a:r>
                      <a:r>
                        <a:rPr lang="ru-RU" sz="1800" spc="-50">
                          <a:effectLst/>
                        </a:rPr>
                        <a:t>2</a:t>
                      </a:r>
                      <a:r>
                        <a:rPr lang="ru-RU" sz="1800">
                          <a:effectLst/>
                        </a:rPr>
                        <a:t>, </a:t>
                      </a:r>
                      <a:r>
                        <a:rPr lang="uk-UA" sz="1800">
                          <a:effectLst/>
                        </a:rPr>
                        <a:t>повертає </a:t>
                      </a:r>
                      <a:r>
                        <a:rPr lang="en-US" sz="1800" spc="-50">
                          <a:effectLst/>
                        </a:rPr>
                        <a:t>si</a:t>
                      </a:r>
                      <a:r>
                        <a:rPr lang="ru-RU" sz="1800">
                          <a:effectLst/>
                        </a:rPr>
                        <a:t>, </a:t>
                      </a:r>
                      <a:r>
                        <a:rPr lang="uk-UA" sz="1800">
                          <a:effectLst/>
                        </a:rPr>
                        <a:t>при цьому попереднє значення </a:t>
                      </a:r>
                      <a:r>
                        <a:rPr lang="en-US" sz="1800" spc="-50">
                          <a:effectLst/>
                        </a:rPr>
                        <a:t>si </a:t>
                      </a:r>
                      <a:r>
                        <a:rPr lang="uk-UA" sz="1800">
                          <a:effectLst/>
                        </a:rPr>
                        <a:t>втрачається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</a:rPr>
                        <a:t>char *</a:t>
                      </a:r>
                      <a:r>
                        <a:rPr lang="en-US" sz="1800" spc="-50" dirty="0" err="1">
                          <a:effectLst/>
                        </a:rPr>
                        <a:t>strcpy</a:t>
                      </a:r>
                      <a:r>
                        <a:rPr lang="uk-UA" sz="1800" spc="-50" dirty="0">
                          <a:effectLst/>
                        </a:rPr>
                        <a:t> </a:t>
                      </a:r>
                      <a:r>
                        <a:rPr lang="en-US" sz="1800" spc="-50" dirty="0">
                          <a:effectLst/>
                        </a:rPr>
                        <a:t>(char *</a:t>
                      </a:r>
                      <a:r>
                        <a:rPr lang="en-US" sz="1800" spc="-50" dirty="0" err="1">
                          <a:effectLst/>
                        </a:rPr>
                        <a:t>si</a:t>
                      </a:r>
                      <a:r>
                        <a:rPr lang="en-US" sz="1800" spc="-50" dirty="0">
                          <a:effectLst/>
                        </a:rPr>
                        <a:t>, char *s2);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05357737"/>
                  </a:ext>
                </a:extLst>
              </a:tr>
              <a:tr h="369157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</a:rPr>
                        <a:t>strncpy()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effectLst/>
                        </a:rPr>
                        <a:t>замінює перші </a:t>
                      </a:r>
                      <a:r>
                        <a:rPr lang="en-US" sz="1800" spc="-50">
                          <a:effectLst/>
                        </a:rPr>
                        <a:t>n </a:t>
                      </a:r>
                      <a:r>
                        <a:rPr lang="uk-UA" sz="1800">
                          <a:effectLst/>
                        </a:rPr>
                        <a:t>символів рядка </a:t>
                      </a:r>
                      <a:r>
                        <a:rPr lang="en-US" sz="1800" spc="-50">
                          <a:effectLst/>
                        </a:rPr>
                        <a:t>s</a:t>
                      </a:r>
                      <a:r>
                        <a:rPr lang="ru-RU" sz="1800" spc="-50">
                          <a:effectLst/>
                        </a:rPr>
                        <a:t>1 </a:t>
                      </a:r>
                      <a:r>
                        <a:rPr lang="uk-UA" sz="1800">
                          <a:effectLst/>
                        </a:rPr>
                        <a:t>на перші </a:t>
                      </a:r>
                      <a:r>
                        <a:rPr lang="en-US" sz="1800" spc="-50">
                          <a:effectLst/>
                        </a:rPr>
                        <a:t>n </a:t>
                      </a:r>
                      <a:r>
                        <a:rPr lang="uk-UA" sz="1800">
                          <a:effectLst/>
                        </a:rPr>
                        <a:t>символів рядка </a:t>
                      </a:r>
                      <a:r>
                        <a:rPr lang="en-US" sz="1800" spc="-50">
                          <a:effectLst/>
                        </a:rPr>
                        <a:t>s</a:t>
                      </a:r>
                      <a:r>
                        <a:rPr lang="ru-RU" sz="1800" spc="-50">
                          <a:effectLst/>
                        </a:rPr>
                        <a:t>2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182563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</a:rPr>
                        <a:t>char *</a:t>
                      </a:r>
                      <a:r>
                        <a:rPr lang="en-US" sz="1800" spc="-50" dirty="0" err="1">
                          <a:effectLst/>
                        </a:rPr>
                        <a:t>strncpy</a:t>
                      </a:r>
                      <a:r>
                        <a:rPr lang="en-US" sz="1800" spc="-50" dirty="0">
                          <a:effectLst/>
                        </a:rPr>
                        <a:t> (char *</a:t>
                      </a:r>
                      <a:r>
                        <a:rPr lang="en-US" sz="1800" spc="-50" dirty="0" err="1">
                          <a:effectLst/>
                        </a:rPr>
                        <a:t>si</a:t>
                      </a:r>
                      <a:r>
                        <a:rPr lang="en-US" sz="1800" spc="-50" dirty="0">
                          <a:effectLst/>
                        </a:rPr>
                        <a:t>, char *s2, size t n);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62895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94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кутник 2"/>
          <p:cNvSpPr/>
          <p:nvPr/>
        </p:nvSpPr>
        <p:spPr>
          <a:xfrm>
            <a:off x="2826125" y="0"/>
            <a:ext cx="6845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Функції стандартної бібліотеки &lt;с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string</a:t>
            </a:r>
            <a:r>
              <a:rPr lang="uk-UA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Sans Serif" panose="020B0604020202020204" pitchFamily="34" charset="0"/>
              </a:rPr>
              <a:t>&gt;</a:t>
            </a:r>
            <a:endParaRPr lang="uk-UA" sz="2800" b="1" dirty="0"/>
          </a:p>
        </p:txBody>
      </p:sp>
      <p:graphicFrame>
        <p:nvGraphicFramePr>
          <p:cNvPr id="4" name="Таблиця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33475"/>
              </p:ext>
            </p:extLst>
          </p:nvPr>
        </p:nvGraphicFramePr>
        <p:xfrm>
          <a:off x="-2" y="915105"/>
          <a:ext cx="12192002" cy="576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4699">
                  <a:extLst>
                    <a:ext uri="{9D8B030D-6E8A-4147-A177-3AD203B41FA5}">
                      <a16:colId xmlns:a16="http://schemas.microsoft.com/office/drawing/2014/main" val="157312237"/>
                    </a:ext>
                  </a:extLst>
                </a:gridCol>
                <a:gridCol w="7184572">
                  <a:extLst>
                    <a:ext uri="{9D8B030D-6E8A-4147-A177-3AD203B41FA5}">
                      <a16:colId xmlns:a16="http://schemas.microsoft.com/office/drawing/2014/main" val="2268571072"/>
                    </a:ext>
                  </a:extLst>
                </a:gridCol>
                <a:gridCol w="3892731">
                  <a:extLst>
                    <a:ext uri="{9D8B030D-6E8A-4147-A177-3AD203B41FA5}">
                      <a16:colId xmlns:a16="http://schemas.microsoft.com/office/drawing/2014/main" val="1499690621"/>
                    </a:ext>
                  </a:extLst>
                </a:gridCol>
              </a:tblGrid>
              <a:tr h="69700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strchr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відшукує перше входження символу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 </a:t>
                      </a: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рядок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 повертає вказівник на цей символ, тобто частину рядка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розпочинаючи з символу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 </a:t>
                      </a: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 до кінця рядка. Якщо символу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 </a:t>
                      </a: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рядку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немає, результат -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*strchr(char *s, int ch);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35054473"/>
                  </a:ext>
                </a:extLst>
              </a:tr>
              <a:tr h="69360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strrchr()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відшукує останнє входження символу в рядку і повертає частину рядка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розпочинаючи з останнього входження символу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 до кінця рядка. Якщо символу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рядку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немає, результат - </a:t>
                      </a:r>
                      <a:r>
                        <a:rPr lang="en-US" sz="1800" cap="small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*strrchr (char *s, int c);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05168949"/>
                  </a:ext>
                </a:extLst>
              </a:tr>
              <a:tr h="462402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strstr()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відшукує </a:t>
                      </a:r>
                      <a:r>
                        <a:rPr lang="uk-UA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підрядок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рядку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повертає частину рядка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розпочинаючи з першого спільного символу для обох рядків і до кінця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*strstr(char *si, char *s2);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35669573"/>
                  </a:ext>
                </a:extLst>
              </a:tr>
              <a:tr h="231201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strspn()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повертає довжину початкового сегмента рядка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символи якого є в рядку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ru-RU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t strcspn (char *si, char *s2);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9934750"/>
                  </a:ext>
                </a:extLst>
              </a:tr>
              <a:tr h="447102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strcspn()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повертає індекс першого символу в рядку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який є спільним для обох рядків (нумерація індексів символів розпочинається з нуля)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t strcspn (char *si, char *s2);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3286198"/>
                  </a:ext>
                </a:extLst>
              </a:tr>
              <a:tr h="213861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strset()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замінює усі символи рядка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uk-UA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символ </a:t>
                      </a: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*strset(char *s, char c);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80329587"/>
                  </a:ext>
                </a:extLst>
              </a:tr>
              <a:tr h="234941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strnset()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замінює лише перші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символів рядка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символ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*strnset (char *s, int ch, size t n);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95537390"/>
                  </a:ext>
                </a:extLst>
              </a:tr>
              <a:tr h="578002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strpbrk()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відшукує місце першого входження у рядок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будь-якого символу рядка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 повертає частину рядка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розпочинаючи з цього символу і до кінця рядка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*strpbrk (char *s1, const char *s2);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709342"/>
                  </a:ext>
                </a:extLst>
              </a:tr>
              <a:tr h="117640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strrev()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реверс рядка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*strrev (char *s);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92750358"/>
                  </a:ext>
                </a:extLst>
              </a:tr>
              <a:tr h="675583"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strtok()</a:t>
                      </a:r>
                      <a:endParaRPr lang="uk-UA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2413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повертає частину (лексему) рядка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ru-RU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 поточної позиції вказівника до розділового символу, зазначеного у рядку 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ru-RU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uk-UA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зазвичай використовується для перетворювання рядка на послідовність лексем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15494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*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strtok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(char *s1, </a:t>
                      </a:r>
                      <a:r>
                        <a:rPr lang="en-US" sz="1800" spc="-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lang="en-US" sz="18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char *s2);</a:t>
                      </a:r>
                      <a:endParaRPr lang="uk-UA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90277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57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/>
          <p:cNvSpPr/>
          <p:nvPr/>
        </p:nvSpPr>
        <p:spPr>
          <a:xfrm>
            <a:off x="0" y="0"/>
            <a:ext cx="12087497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k, n;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*s1 = 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"Ha Дерибасівській"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,*s2=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"гарна погода"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,*s3;</a:t>
            </a:r>
          </a:p>
          <a:p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n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(s1);			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Обчислюється довжина рядка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si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; n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дорівнюватиме 17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(s2);			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Обчислюється довжина рядка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s2; k=13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(s1, s2);		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k=173;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різниця між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ASCII-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кодами перших неоднакових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	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символів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рядків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s1 і s2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дорівнює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173, а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оскільки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173&gt;0,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				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можна стверджувати, що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s1&gt;s2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(s3, s2);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s3="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гарна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погода" (рядку s3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присвоюється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рядок s2)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strncpy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(s3, s1, 2);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Копіюються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два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перші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символи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з рядка s1 до s3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s3[2] = 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</a:rPr>
              <a:t>'\ 0'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Третім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символом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після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символів"На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"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задається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				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нуль-символ щоби обрізати рядок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(s1, s2);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s1 = "На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Дерибасівській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гарна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погода"; до рядка s1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				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долучається рядок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s2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s3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strchr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(s1, ’ ’); 		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Пошук пробілів у рядку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s1;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тепер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s3=" </a:t>
            </a:r>
            <a:r>
              <a:rPr lang="uk-UA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Дерибасівській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гарна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погода" -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це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рядок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від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першого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пробілу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до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кінця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рядка s1,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тобто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без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першого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слова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s3=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strrchr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(s1, ’ ’);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Пошук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останнього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пробілу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в рядку s1;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тепер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s3=" погода" -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це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останнє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слово рядка s1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n=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strchr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(s1, ’ ’)-s1+1;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n=3 -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індекс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першого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пробілу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в рядку s1,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обчислений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// як різниця вказівників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strcspn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(s1, ” ”) + 1;		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k=3 -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індекс першого пробілу в рядку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s1;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оскільки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нумерація індексів символів розпочинається з 0, слід додати 1 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s3=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strstr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(s1,s2);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s3 = "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гарна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погода";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пошук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рядка s2 у рядку s1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s3=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strrev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(s2);			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s3="</a:t>
            </a:r>
            <a:r>
              <a:rPr lang="uk-UA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адогоп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uk-UA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анраг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" - відбувається реверс рядка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s3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strupr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(”C++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”); 		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s3=”C+ + MS ” - </a:t>
            </a:r>
            <a:r>
              <a:rPr lang="uk-UA" sz="1400" dirty="0">
                <a:solidFill>
                  <a:srgbClr val="008000"/>
                </a:solidFill>
                <a:latin typeface="Consolas" panose="020B0609020204030204" pitchFamily="49" charset="0"/>
              </a:rPr>
              <a:t>перетворення усіх</a:t>
            </a:r>
            <a:endParaRPr lang="uk-UA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латинських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літер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рядка до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верхнього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регістру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s3 = 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strlwr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(s3);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s3="c+ +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ms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" —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зворотне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перетворення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усіх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	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латинських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літер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рядка до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нижнього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регістру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s3 = 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strtok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(s1, ” ”);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s3="На" - перше слово (лексема) рядка s1 до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розділового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знака,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який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зазначено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символом (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пробілом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) у другому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sz="1400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ru-RU" sz="14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аргументі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функції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.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Почергове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здобуття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усіх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лексем рядка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можна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організовувати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у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циклі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1478510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54C8D-E509-9DD1-61AE-96D4D4043830}"/>
              </a:ext>
            </a:extLst>
          </p:cNvPr>
          <p:cNvSpPr txBox="1"/>
          <p:nvPr/>
        </p:nvSpPr>
        <p:spPr>
          <a:xfrm>
            <a:off x="235131" y="1501621"/>
            <a:ext cx="115127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a2[28]; 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cin.getline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(a2,28);</a:t>
            </a:r>
          </a:p>
          <a:p>
            <a:r>
              <a:rPr lang="ru-RU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a3[30];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оголошуємо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новий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рядок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uk-UA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uk-UA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strcpy_s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(a3,30, 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 "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ініціюємо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новий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рядок на початку пропуском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strcat_s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(a3,30, a2);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дописуємо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до нового рядку з пропуском на початку, введений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раніше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текст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strcat_s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(a3, 30,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uk-UA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дописуємо вкінці </a:t>
            </a:r>
            <a:r>
              <a:rPr lang="uk-UA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щей</a:t>
            </a:r>
            <a:r>
              <a:rPr lang="uk-UA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пропуск</a:t>
            </a:r>
            <a:endParaRPr lang="uk-UA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30 -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це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розмірність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новоутвореного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рядку,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щоб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не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помилитись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ставити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ту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розмірність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що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при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оголошенні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uk-UA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a3&lt;&lt;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"!"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вивів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знак оклику,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щоб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було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видно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що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пропуск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добавився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63450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1994</Words>
  <Application>Microsoft Office PowerPoint</Application>
  <PresentationFormat>Широкий екран</PresentationFormat>
  <Paragraphs>224</Paragraphs>
  <Slides>13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Cascadia Mono</vt:lpstr>
      <vt:lpstr>Consolas</vt:lpstr>
      <vt:lpstr>Courier New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yurchuk</dc:creator>
  <cp:lastModifiedBy>Юрій</cp:lastModifiedBy>
  <cp:revision>88</cp:revision>
  <dcterms:created xsi:type="dcterms:W3CDTF">2017-09-03T13:23:05Z</dcterms:created>
  <dcterms:modified xsi:type="dcterms:W3CDTF">2023-11-01T08:22:09Z</dcterms:modified>
</cp:coreProperties>
</file>